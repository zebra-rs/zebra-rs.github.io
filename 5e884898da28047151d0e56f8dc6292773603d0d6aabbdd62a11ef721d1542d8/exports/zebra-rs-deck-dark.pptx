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14400"/>
            <a:ext cx="1066800" cy="1066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52700" y="981075"/>
            <a:ext cx="3293576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spc="-75" kern="0" dirty="0">
                <a:solidFill>
                  <a:srgbClr val="E9E9E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zebra-rs</a:t>
            </a:r>
            <a:endParaRPr lang="en-US" sz="6300" dirty="0"/>
          </a:p>
        </p:txBody>
      </p:sp>
      <p:sp>
        <p:nvSpPr>
          <p:cNvPr id="5" name="Text 2"/>
          <p:cNvSpPr/>
          <p:nvPr/>
        </p:nvSpPr>
        <p:spPr>
          <a:xfrm>
            <a:off x="1143000" y="2743200"/>
            <a:ext cx="16482060" cy="2890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700" spc="-225" kern="0" dirty="0">
                <a:solidFill>
                  <a:srgbClr val="E9E9E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Routing Software </a:t>
            </a:r>
            <a:pPr algn="l" indent="0" marL="0">
              <a:lnSpc>
                <a:spcPct val="96000"/>
              </a:lnSpc>
              <a:buNone/>
            </a:pPr>
            <a:r>
              <a:rPr lang="en-US" sz="11700" spc="-225" kern="0" dirty="0">
                <a:solidFill>
                  <a:srgbClr val="88888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 the </a:t>
            </a:r>
            <a:pPr algn="l" indent="0" marL="0">
              <a:lnSpc>
                <a:spcPct val="96000"/>
              </a:lnSpc>
              <a:buNone/>
            </a:pPr>
            <a:r>
              <a:rPr lang="en-US" sz="11700" spc="-225" kern="0" dirty="0">
                <a:solidFill>
                  <a:srgbClr val="E3882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AI Era.</a:t>
            </a:r>
            <a:endParaRPr lang="en-US" sz="11700" dirty="0"/>
          </a:p>
        </p:txBody>
      </p:sp>
      <p:sp>
        <p:nvSpPr>
          <p:cNvPr id="6" name="Text 3"/>
          <p:cNvSpPr/>
          <p:nvPr/>
        </p:nvSpPr>
        <p:spPr>
          <a:xfrm>
            <a:off x="1143000" y="6434286"/>
            <a:ext cx="27549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BGP · OSPF · IS-IS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4274865" y="6434286"/>
            <a:ext cx="44384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SRv6 · SR-MPLS · L3VPN · EVPN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9041234" y="6434286"/>
            <a:ext cx="26022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Native MCP server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2024494" y="6434286"/>
            <a:ext cx="27549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AGPLv3 · v26.05.01</a:t>
            </a:r>
            <a:endParaRPr lang="en-US" sz="1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553575"/>
            <a:ext cx="266700" cy="2667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90600" y="9544050"/>
            <a:ext cx="172216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zebra-rs.com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7373600" y="9544050"/>
            <a:ext cx="4191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6482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468" kern="0" dirty="0">
                <a:solidFill>
                  <a:srgbClr val="E388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WHAT IT IS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485900"/>
            <a:ext cx="16482060" cy="1939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200" spc="-135" kern="0" dirty="0">
                <a:solidFill>
                  <a:srgbClr val="E9E9E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 full routing stack, </a:t>
            </a:r>
            <a:pPr algn="l" indent="0" marL="0">
              <a:lnSpc>
                <a:spcPct val="104000"/>
              </a:lnSpc>
              <a:buNone/>
            </a:pPr>
            <a:r>
              <a:rPr lang="en-US" sz="7200" spc="-135" kern="0" dirty="0">
                <a:solidFill>
                  <a:srgbClr val="E3882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rewritten in Rust.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43000" y="3654475"/>
            <a:ext cx="12557760" cy="2026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700" dirty="0">
                <a:solidFill>
                  <a:srgbClr val="A0A0A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zebra-rs is a BGP, OSPF, and IS-IS routing stack with SRv6, SR-MPLS, L3VPN and EVPN extensions. Memory-safe, async to the core, idempotent by design — and the first routing daemon to ship with a native MCP server for AI agents.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43000" y="6176516"/>
            <a:ext cx="200843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⚡ 14ms commit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3532436" y="6176516"/>
            <a:ext cx="25527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🦀 100% safe Rust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466136" y="6176516"/>
            <a:ext cx="12654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◰ AGPLv3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8112621" y="6176516"/>
            <a:ext cx="19583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🔌 MCP native</a:t>
            </a:r>
            <a:endParaRPr lang="en-US" sz="19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9553575"/>
            <a:ext cx="266700" cy="2667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90600" y="9544050"/>
            <a:ext cx="11735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zebra-rs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7373600" y="9544050"/>
            <a:ext cx="4191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6482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468" kern="0" dirty="0">
                <a:solidFill>
                  <a:srgbClr val="E388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FEATURES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485900"/>
            <a:ext cx="16482060" cy="989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200" spc="-135" kern="0" dirty="0">
                <a:solidFill>
                  <a:srgbClr val="E9E9E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Three ideas. One daemon.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143000" y="3160737"/>
            <a:ext cx="5130775" cy="4090987"/>
          </a:xfrm>
          <a:prstGeom prst="roundRect">
            <a:avLst>
              <a:gd name="adj" fmla="val 3260"/>
            </a:avLst>
          </a:prstGeom>
          <a:solidFill>
            <a:srgbClr val="0C0C0C"/>
          </a:solidFill>
          <a:ln w="9525">
            <a:solidFill>
              <a:srgbClr val="1F1F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3525" y="3551262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141413"/>
          </a:solidFill>
          <a:ln w="9525">
            <a:solidFill>
              <a:srgbClr val="2E2E2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925" y="3703662"/>
            <a:ext cx="304800" cy="304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33525" y="4427562"/>
            <a:ext cx="4480217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spc="-30" kern="0" dirty="0">
                <a:solidFill>
                  <a:srgbClr val="E9E9E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Flexible Configuration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1533525" y="5003825"/>
            <a:ext cx="4480217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A0A0A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Legacy CLI syntax, YAML, or JSON — pick the format that fits your workflow. All three round-trip losslessly.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6578575" y="3160737"/>
            <a:ext cx="5130775" cy="4090987"/>
          </a:xfrm>
          <a:prstGeom prst="roundRect">
            <a:avLst>
              <a:gd name="adj" fmla="val 3260"/>
            </a:avLst>
          </a:prstGeom>
          <a:solidFill>
            <a:srgbClr val="0C0C0C"/>
          </a:solidFill>
          <a:ln w="9525">
            <a:solidFill>
              <a:srgbClr val="1F1F1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69100" y="3551262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141413"/>
          </a:solidFill>
          <a:ln w="9525">
            <a:solidFill>
              <a:srgbClr val="2E2E2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500" y="3703662"/>
            <a:ext cx="304800" cy="304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69100" y="4427562"/>
            <a:ext cx="4480217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spc="-30" kern="0" dirty="0">
                <a:solidFill>
                  <a:srgbClr val="E9E9E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Idempotent by Design</a:t>
            </a:r>
            <a:endParaRPr lang="en-US" sz="2850" dirty="0"/>
          </a:p>
        </p:txBody>
      </p:sp>
      <p:sp>
        <p:nvSpPr>
          <p:cNvPr id="14" name="Text 10"/>
          <p:cNvSpPr/>
          <p:nvPr/>
        </p:nvSpPr>
        <p:spPr>
          <a:xfrm>
            <a:off x="6969100" y="5003825"/>
            <a:ext cx="4480217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A0A0A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Apply the same spec a thousand times; the result is the same. GitOps, CI/CD, and Kubernetes operators work the way you'd expect.</a:t>
            </a:r>
            <a:endParaRPr lang="en-US" sz="1950" dirty="0"/>
          </a:p>
        </p:txBody>
      </p:sp>
      <p:sp>
        <p:nvSpPr>
          <p:cNvPr id="15" name="Shape 11"/>
          <p:cNvSpPr/>
          <p:nvPr/>
        </p:nvSpPr>
        <p:spPr>
          <a:xfrm>
            <a:off x="12014150" y="3160737"/>
            <a:ext cx="5130850" cy="4090987"/>
          </a:xfrm>
          <a:prstGeom prst="roundRect">
            <a:avLst>
              <a:gd name="adj" fmla="val 3260"/>
            </a:avLst>
          </a:prstGeom>
          <a:solidFill>
            <a:srgbClr val="0C0C0C"/>
          </a:solidFill>
          <a:ln w="9525">
            <a:solidFill>
              <a:srgbClr val="1F1F1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2404675" y="3551262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141413"/>
          </a:solidFill>
          <a:ln w="9525">
            <a:solidFill>
              <a:srgbClr val="2E2E2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7075" y="3703662"/>
            <a:ext cx="304800" cy="3048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404675" y="4427562"/>
            <a:ext cx="4480294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spc="-30" kern="0" dirty="0">
                <a:solidFill>
                  <a:srgbClr val="E9E9E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Native MCP Server</a:t>
            </a:r>
            <a:endParaRPr lang="en-US" sz="2850" dirty="0"/>
          </a:p>
        </p:txBody>
      </p:sp>
      <p:sp>
        <p:nvSpPr>
          <p:cNvPr id="19" name="Text 14"/>
          <p:cNvSpPr/>
          <p:nvPr/>
        </p:nvSpPr>
        <p:spPr>
          <a:xfrm>
            <a:off x="12404675" y="5003825"/>
            <a:ext cx="4480294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A0A0A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Model Context Protocol is built in. Ask Claude or any MCP-aware agent to inspect routes, diagnose adjacencies, or draft policy.</a:t>
            </a:r>
            <a:endParaRPr lang="en-US" sz="19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9553575"/>
            <a:ext cx="266700" cy="2667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90600" y="9544050"/>
            <a:ext cx="11735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zebra-rs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17373600" y="9544050"/>
            <a:ext cx="4191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6482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468" kern="0" dirty="0">
                <a:solidFill>
                  <a:srgbClr val="E388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FLEXIBLE CONFIGURATION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485900"/>
            <a:ext cx="16482060" cy="989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200" spc="-135" kern="0" dirty="0">
                <a:solidFill>
                  <a:srgbClr val="E9E9E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One model. </a:t>
            </a:r>
            <a:pPr algn="l" indent="0" marL="0">
              <a:lnSpc>
                <a:spcPct val="104000"/>
              </a:lnSpc>
              <a:buNone/>
            </a:pPr>
            <a:r>
              <a:rPr lang="en-US" sz="7200" spc="-135" kern="0" dirty="0">
                <a:solidFill>
                  <a:srgbClr val="E3882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Three formats.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43000" y="2951187"/>
            <a:ext cx="1079182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A0A0A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Same BGP neighbor. Same on-disk semantics. Pick whichever your team and tooling prefer.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143000" y="4309393"/>
            <a:ext cx="5130775" cy="5470773"/>
          </a:xfrm>
          <a:prstGeom prst="roundRect">
            <a:avLst>
              <a:gd name="adj" fmla="val 2599"/>
            </a:avLst>
          </a:prstGeom>
          <a:solidFill>
            <a:srgbClr val="0C0C0C"/>
          </a:solidFill>
          <a:ln w="9525">
            <a:solidFill>
              <a:srgbClr val="1F1F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57325" y="4985668"/>
            <a:ext cx="534963" cy="19050"/>
          </a:xfrm>
          <a:prstGeom prst="rect">
            <a:avLst/>
          </a:prstGeom>
          <a:solidFill>
            <a:srgbClr val="E38829"/>
          </a:solidFill>
          <a:ln/>
        </p:spPr>
      </p:sp>
      <p:sp>
        <p:nvSpPr>
          <p:cNvPr id="8" name="Text 6"/>
          <p:cNvSpPr/>
          <p:nvPr/>
        </p:nvSpPr>
        <p:spPr>
          <a:xfrm>
            <a:off x="1457325" y="4623718"/>
            <a:ext cx="61116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57325" y="5157118"/>
            <a:ext cx="4637189" cy="43468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bgp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EC6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65501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neighbor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EC6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10.0.0.2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afi-safi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vpnv4 {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enabled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98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peer-as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EC6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65501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78575" y="4309393"/>
            <a:ext cx="5130775" cy="5470773"/>
          </a:xfrm>
          <a:prstGeom prst="roundRect">
            <a:avLst>
              <a:gd name="adj" fmla="val 2599"/>
            </a:avLst>
          </a:prstGeom>
          <a:solidFill>
            <a:srgbClr val="0C0C0C"/>
          </a:solidFill>
          <a:ln w="9525">
            <a:solidFill>
              <a:srgbClr val="1F1F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92900" y="4985668"/>
            <a:ext cx="713259" cy="19050"/>
          </a:xfrm>
          <a:prstGeom prst="rect">
            <a:avLst/>
          </a:prstGeom>
          <a:solidFill>
            <a:srgbClr val="E38829"/>
          </a:solidFill>
          <a:ln/>
        </p:spPr>
      </p:sp>
      <p:sp>
        <p:nvSpPr>
          <p:cNvPr id="12" name="Text 10"/>
          <p:cNvSpPr/>
          <p:nvPr/>
        </p:nvSpPr>
        <p:spPr>
          <a:xfrm>
            <a:off x="6892900" y="4623718"/>
            <a:ext cx="78945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YAML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92900" y="5157118"/>
            <a:ext cx="4637189" cy="3352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bgp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EC6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65501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neighbor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remote-address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EC6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10.0.0.2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afi-safi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vpnv4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enabled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98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peer-as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EC6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65501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014150" y="4309393"/>
            <a:ext cx="5130850" cy="5470773"/>
          </a:xfrm>
          <a:prstGeom prst="roundRect">
            <a:avLst>
              <a:gd name="adj" fmla="val 2599"/>
            </a:avLst>
          </a:prstGeom>
          <a:solidFill>
            <a:srgbClr val="0C0C0C"/>
          </a:solidFill>
          <a:ln w="9525">
            <a:solidFill>
              <a:srgbClr val="1F1F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328475" y="4985668"/>
            <a:ext cx="713259" cy="19050"/>
          </a:xfrm>
          <a:prstGeom prst="rect">
            <a:avLst/>
          </a:prstGeom>
          <a:solidFill>
            <a:srgbClr val="E38829"/>
          </a:solidFill>
          <a:ln/>
        </p:spPr>
      </p:sp>
      <p:sp>
        <p:nvSpPr>
          <p:cNvPr id="16" name="Text 14"/>
          <p:cNvSpPr/>
          <p:nvPr/>
        </p:nvSpPr>
        <p:spPr>
          <a:xfrm>
            <a:off x="12328475" y="4623718"/>
            <a:ext cx="78945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JSON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28475" y="5157118"/>
            <a:ext cx="4637266" cy="43468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CB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"router"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CB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"bgp"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CB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"global"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CB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"as"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EC6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65501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},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CB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"neighbor"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[{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CB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"remote-address"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CB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"10.0.0.2"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CB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"peer-as"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EC6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65501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}]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8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9553575"/>
            <a:ext cx="266700" cy="2667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90600" y="9544050"/>
            <a:ext cx="11735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zebra-rs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7373600" y="9544050"/>
            <a:ext cx="4191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6482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468" kern="0" dirty="0">
                <a:solidFill>
                  <a:srgbClr val="E388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LIVE CLI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485900"/>
            <a:ext cx="16482060" cy="989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200" spc="-135" kern="0" dirty="0">
                <a:solidFill>
                  <a:srgbClr val="E9E9E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From boot to BGP, </a:t>
            </a:r>
            <a:pPr algn="l" indent="0" marL="0">
              <a:lnSpc>
                <a:spcPct val="104000"/>
              </a:lnSpc>
              <a:buNone/>
            </a:pPr>
            <a:r>
              <a:rPr lang="en-US" sz="7200" spc="-135" kern="0" dirty="0">
                <a:solidFill>
                  <a:srgbClr val="E3882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 seconds.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143000" y="3046437"/>
            <a:ext cx="16002000" cy="5715000"/>
          </a:xfrm>
          <a:prstGeom prst="roundRect">
            <a:avLst>
              <a:gd name="adj" fmla="val 2667"/>
            </a:avLst>
          </a:prstGeom>
          <a:solidFill>
            <a:srgbClr val="0C0C0C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525" y="3055962"/>
            <a:ext cx="15982950" cy="66861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Shape 5"/>
          <p:cNvSpPr/>
          <p:nvPr/>
        </p:nvSpPr>
        <p:spPr>
          <a:xfrm>
            <a:off x="1152525" y="3715048"/>
            <a:ext cx="15982950" cy="9525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6"/>
          <p:cNvSpPr/>
          <p:nvPr/>
        </p:nvSpPr>
        <p:spPr>
          <a:xfrm>
            <a:off x="1381125" y="3318793"/>
            <a:ext cx="133350" cy="13335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1628775" y="3318793"/>
            <a:ext cx="133350" cy="13335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876425" y="3318793"/>
            <a:ext cx="133350" cy="13335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2238375" y="3208362"/>
            <a:ext cx="3955725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zebra@edge-01 — zsh — 100×30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79763" y="3208362"/>
            <a:ext cx="903312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4EC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● live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57325" y="3915073"/>
            <a:ext cx="15852839" cy="4684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 ❯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9E9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show version</a:t>
            </a:r>
            <a:endParaRPr lang="en-US" sz="18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9E9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zebra-rs version v26.05.01 (9e48ac5) </a:t>
            </a:r>
            <a:endParaRPr lang="en-US" sz="18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 ❯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9E9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configure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2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 #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9E9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set router bgp global as 65501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2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 #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9E9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set router bgp neighbor 10.0.0.2 peer-as 65501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2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 #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9E9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set router bgp neighbor 10.0.0.2 afi-safi vpnv4 enabled true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2A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 #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9E9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commit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4EC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commit 7a3f1c applied in 14ms · idempotent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388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 ❯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9E9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show bgp summary</a:t>
            </a:r>
            <a:endParaRPr lang="en-US" sz="18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9E9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BGP router identifier 10.0.0.1, local AS number 65501 </a:t>
            </a:r>
            <a:endParaRPr lang="en-US" sz="18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Neighbor      V    AS   MsgRcvd MsgSent  Up/Down  PfxRcd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9E9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r1(10.0.0.2)  4 65501       0     128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4EC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00:00:02       4</a:t>
            </a:r>
            <a:endParaRPr lang="en-US" sz="18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9553575"/>
            <a:ext cx="266700" cy="2667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90600" y="9544050"/>
            <a:ext cx="11735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zebra-rs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7373600" y="9544050"/>
            <a:ext cx="4191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6482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468" kern="0" dirty="0">
                <a:solidFill>
                  <a:srgbClr val="E388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FABRIC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485900"/>
            <a:ext cx="16482060" cy="1939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200" spc="-135" kern="0" dirty="0">
                <a:solidFill>
                  <a:srgbClr val="E9E9E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Every dot is a router. </a:t>
            </a:r>
            <a:pPr algn="l" indent="0" marL="0">
              <a:lnSpc>
                <a:spcPct val="104000"/>
              </a:lnSpc>
              <a:buNone/>
            </a:pPr>
            <a:r>
              <a:rPr lang="en-US" sz="7200" spc="-135" kern="0" dirty="0">
                <a:solidFill>
                  <a:srgbClr val="E3882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Every line, a session.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143000" y="4111675"/>
            <a:ext cx="16002000" cy="5260925"/>
          </a:xfrm>
          <a:prstGeom prst="roundRect">
            <a:avLst>
              <a:gd name="adj" fmla="val 2897"/>
            </a:avLst>
          </a:prstGeom>
          <a:solidFill>
            <a:srgbClr val="0C0C0C"/>
          </a:solidFill>
          <a:ln w="9525">
            <a:solidFill>
              <a:srgbClr val="1F1F1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7325" y="4426000"/>
            <a:ext cx="15373350" cy="46322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553575"/>
            <a:ext cx="266700" cy="2667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0600" y="9544050"/>
            <a:ext cx="11735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zebra-rs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7373600" y="9544050"/>
            <a:ext cx="4191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6482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468" kern="0" dirty="0">
                <a:solidFill>
                  <a:srgbClr val="E388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PROTOCOLS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485900"/>
            <a:ext cx="16482060" cy="1939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200" spc="-135" kern="0" dirty="0">
                <a:solidFill>
                  <a:srgbClr val="E9E9E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Speaks what the </a:t>
            </a:r>
            <a:pPr algn="l" indent="0" marL="0">
              <a:lnSpc>
                <a:spcPct val="104000"/>
              </a:lnSpc>
              <a:buNone/>
            </a:pPr>
            <a:r>
              <a:rPr lang="en-US" sz="7200" spc="-135" kern="0" dirty="0">
                <a:solidFill>
                  <a:srgbClr val="E3882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modern edge </a:t>
            </a:r>
            <a:pPr algn="l" indent="0" marL="0">
              <a:lnSpc>
                <a:spcPct val="104000"/>
              </a:lnSpc>
              <a:buNone/>
            </a:pPr>
            <a:r>
              <a:rPr lang="en-US" sz="7200" spc="-135" kern="0" dirty="0">
                <a:solidFill>
                  <a:srgbClr val="E9E9E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speaks.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143000" y="4187875"/>
            <a:ext cx="3857625" cy="742950"/>
          </a:xfrm>
          <a:prstGeom prst="roundRect">
            <a:avLst>
              <a:gd name="adj" fmla="val 15385"/>
            </a:avLst>
          </a:prstGeom>
          <a:solidFill>
            <a:srgbClr val="0C0C0C"/>
          </a:solidFill>
          <a:ln w="9525">
            <a:solidFill>
              <a:srgbClr val="1F1F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9225" y="4492675"/>
            <a:ext cx="133350" cy="133350"/>
          </a:xfrm>
          <a:prstGeom prst="ellipse">
            <a:avLst/>
          </a:prstGeom>
          <a:solidFill>
            <a:srgbClr val="E38829"/>
          </a:solidFill>
          <a:ln/>
        </p:spPr>
      </p:sp>
      <p:sp>
        <p:nvSpPr>
          <p:cNvPr id="7" name="Text 5"/>
          <p:cNvSpPr/>
          <p:nvPr/>
        </p:nvSpPr>
        <p:spPr>
          <a:xfrm>
            <a:off x="1704975" y="4406950"/>
            <a:ext cx="819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9E9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BGP-4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3627090" y="4416475"/>
            <a:ext cx="11735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RFC 4271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191125" y="4187875"/>
            <a:ext cx="3857625" cy="742950"/>
          </a:xfrm>
          <a:prstGeom prst="roundRect">
            <a:avLst>
              <a:gd name="adj" fmla="val 15385"/>
            </a:avLst>
          </a:prstGeom>
          <a:solidFill>
            <a:srgbClr val="0C0C0C"/>
          </a:solidFill>
          <a:ln w="9525">
            <a:solidFill>
              <a:srgbClr val="1F1F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67350" y="4492675"/>
            <a:ext cx="133350" cy="133350"/>
          </a:xfrm>
          <a:prstGeom prst="ellipse">
            <a:avLst/>
          </a:prstGeom>
          <a:solidFill>
            <a:srgbClr val="398CCC"/>
          </a:solidFill>
          <a:ln/>
        </p:spPr>
      </p:sp>
      <p:sp>
        <p:nvSpPr>
          <p:cNvPr id="11" name="Text 9"/>
          <p:cNvSpPr/>
          <p:nvPr/>
        </p:nvSpPr>
        <p:spPr>
          <a:xfrm>
            <a:off x="5753100" y="4406950"/>
            <a:ext cx="96775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9E9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OSPFv2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675215" y="4416475"/>
            <a:ext cx="11735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RFC 2328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39250" y="4187875"/>
            <a:ext cx="3857625" cy="742950"/>
          </a:xfrm>
          <a:prstGeom prst="roundRect">
            <a:avLst>
              <a:gd name="adj" fmla="val 15385"/>
            </a:avLst>
          </a:prstGeom>
          <a:solidFill>
            <a:srgbClr val="0C0C0C"/>
          </a:solidFill>
          <a:ln w="9525">
            <a:solidFill>
              <a:srgbClr val="1F1F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15475" y="4492675"/>
            <a:ext cx="133350" cy="133350"/>
          </a:xfrm>
          <a:prstGeom prst="ellipse">
            <a:avLst/>
          </a:prstGeom>
          <a:solidFill>
            <a:srgbClr val="398CCC"/>
          </a:solidFill>
          <a:ln/>
        </p:spPr>
      </p:sp>
      <p:sp>
        <p:nvSpPr>
          <p:cNvPr id="15" name="Text 13"/>
          <p:cNvSpPr/>
          <p:nvPr/>
        </p:nvSpPr>
        <p:spPr>
          <a:xfrm>
            <a:off x="9801225" y="4406950"/>
            <a:ext cx="96775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9E9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OSPFv3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1723340" y="4416475"/>
            <a:ext cx="11735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RFC 5340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287375" y="4187875"/>
            <a:ext cx="3857625" cy="742950"/>
          </a:xfrm>
          <a:prstGeom prst="roundRect">
            <a:avLst>
              <a:gd name="adj" fmla="val 15385"/>
            </a:avLst>
          </a:prstGeom>
          <a:solidFill>
            <a:srgbClr val="0C0C0C"/>
          </a:solidFill>
          <a:ln w="9525">
            <a:solidFill>
              <a:srgbClr val="1F1F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563600" y="4492675"/>
            <a:ext cx="133350" cy="133350"/>
          </a:xfrm>
          <a:prstGeom prst="ellipse">
            <a:avLst/>
          </a:prstGeom>
          <a:solidFill>
            <a:srgbClr val="32A4BF"/>
          </a:solidFill>
          <a:ln/>
        </p:spPr>
      </p:sp>
      <p:sp>
        <p:nvSpPr>
          <p:cNvPr id="19" name="Text 17"/>
          <p:cNvSpPr/>
          <p:nvPr/>
        </p:nvSpPr>
        <p:spPr>
          <a:xfrm>
            <a:off x="13849350" y="4406950"/>
            <a:ext cx="819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9E9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IS-IS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5634320" y="4416475"/>
            <a:ext cx="13106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ISO 10589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43000" y="5121325"/>
            <a:ext cx="3857625" cy="742950"/>
          </a:xfrm>
          <a:prstGeom prst="roundRect">
            <a:avLst>
              <a:gd name="adj" fmla="val 15385"/>
            </a:avLst>
          </a:prstGeom>
          <a:solidFill>
            <a:srgbClr val="0C0C0C"/>
          </a:solidFill>
          <a:ln w="9525">
            <a:solidFill>
              <a:srgbClr val="1F1F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19225" y="5426125"/>
            <a:ext cx="133350" cy="133350"/>
          </a:xfrm>
          <a:prstGeom prst="ellipse">
            <a:avLst/>
          </a:prstGeom>
          <a:solidFill>
            <a:srgbClr val="35B6A2"/>
          </a:solidFill>
          <a:ln/>
        </p:spPr>
      </p:sp>
      <p:sp>
        <p:nvSpPr>
          <p:cNvPr id="23" name="Text 21"/>
          <p:cNvSpPr/>
          <p:nvPr/>
        </p:nvSpPr>
        <p:spPr>
          <a:xfrm>
            <a:off x="1704975" y="5340400"/>
            <a:ext cx="5220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9E9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BFD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3627090" y="5349925"/>
            <a:ext cx="11735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RFC 5880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191125" y="5121325"/>
            <a:ext cx="3857625" cy="742950"/>
          </a:xfrm>
          <a:prstGeom prst="roundRect">
            <a:avLst>
              <a:gd name="adj" fmla="val 15385"/>
            </a:avLst>
          </a:prstGeom>
          <a:solidFill>
            <a:srgbClr val="0C0C0C"/>
          </a:solidFill>
          <a:ln w="9525">
            <a:solidFill>
              <a:srgbClr val="1F1F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67350" y="5426125"/>
            <a:ext cx="133350" cy="133350"/>
          </a:xfrm>
          <a:prstGeom prst="ellipse">
            <a:avLst/>
          </a:prstGeom>
          <a:solidFill>
            <a:srgbClr val="D64C16"/>
          </a:solidFill>
          <a:ln/>
        </p:spPr>
      </p:sp>
      <p:sp>
        <p:nvSpPr>
          <p:cNvPr id="27" name="Text 25"/>
          <p:cNvSpPr/>
          <p:nvPr/>
        </p:nvSpPr>
        <p:spPr>
          <a:xfrm>
            <a:off x="5753100" y="5340400"/>
            <a:ext cx="6706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9E9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SRv6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7675215" y="5349925"/>
            <a:ext cx="11735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RFC 8986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239250" y="5121325"/>
            <a:ext cx="3857625" cy="742950"/>
          </a:xfrm>
          <a:prstGeom prst="roundRect">
            <a:avLst>
              <a:gd name="adj" fmla="val 15385"/>
            </a:avLst>
          </a:prstGeom>
          <a:solidFill>
            <a:srgbClr val="0C0C0C"/>
          </a:solidFill>
          <a:ln w="9525">
            <a:solidFill>
              <a:srgbClr val="1F1F1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15475" y="5426125"/>
            <a:ext cx="133350" cy="133350"/>
          </a:xfrm>
          <a:prstGeom prst="ellipse">
            <a:avLst/>
          </a:prstGeom>
          <a:solidFill>
            <a:srgbClr val="EEC61B"/>
          </a:solidFill>
          <a:ln/>
        </p:spPr>
      </p:sp>
      <p:sp>
        <p:nvSpPr>
          <p:cNvPr id="31" name="Text 29"/>
          <p:cNvSpPr/>
          <p:nvPr/>
        </p:nvSpPr>
        <p:spPr>
          <a:xfrm>
            <a:off x="9801225" y="5340400"/>
            <a:ext cx="11163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9E9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SR-MPLS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1723340" y="5349925"/>
            <a:ext cx="11735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RFC 8660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3287375" y="5121325"/>
            <a:ext cx="3857625" cy="742950"/>
          </a:xfrm>
          <a:prstGeom prst="roundRect">
            <a:avLst>
              <a:gd name="adj" fmla="val 15385"/>
            </a:avLst>
          </a:prstGeom>
          <a:solidFill>
            <a:srgbClr val="0C0C0C"/>
          </a:solidFill>
          <a:ln w="9525">
            <a:solidFill>
              <a:srgbClr val="1F1F1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563600" y="5426125"/>
            <a:ext cx="133350" cy="133350"/>
          </a:xfrm>
          <a:prstGeom prst="ellipse">
            <a:avLst/>
          </a:prstGeom>
          <a:solidFill>
            <a:srgbClr val="C9BA5D"/>
          </a:solidFill>
          <a:ln/>
        </p:spPr>
      </p:sp>
      <p:sp>
        <p:nvSpPr>
          <p:cNvPr id="35" name="Text 33"/>
          <p:cNvSpPr/>
          <p:nvPr/>
        </p:nvSpPr>
        <p:spPr>
          <a:xfrm>
            <a:off x="13849350" y="5340400"/>
            <a:ext cx="819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9E9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L3VPN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15771465" y="5349925"/>
            <a:ext cx="11735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RFC 4364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143000" y="6054775"/>
            <a:ext cx="3857625" cy="742950"/>
          </a:xfrm>
          <a:prstGeom prst="roundRect">
            <a:avLst>
              <a:gd name="adj" fmla="val 15385"/>
            </a:avLst>
          </a:prstGeom>
          <a:solidFill>
            <a:srgbClr val="0C0C0C"/>
          </a:solidFill>
          <a:ln w="9525">
            <a:solidFill>
              <a:srgbClr val="1F1F1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19225" y="6359575"/>
            <a:ext cx="133350" cy="133350"/>
          </a:xfrm>
          <a:prstGeom prst="ellipse">
            <a:avLst/>
          </a:prstGeom>
          <a:solidFill>
            <a:srgbClr val="398CCC"/>
          </a:solidFill>
          <a:ln/>
        </p:spPr>
      </p:sp>
      <p:sp>
        <p:nvSpPr>
          <p:cNvPr id="39" name="Text 37"/>
          <p:cNvSpPr/>
          <p:nvPr/>
        </p:nvSpPr>
        <p:spPr>
          <a:xfrm>
            <a:off x="1704975" y="6273850"/>
            <a:ext cx="96775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9E9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MP-BGP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3627090" y="6283375"/>
            <a:ext cx="11735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RFC 4760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191125" y="6054775"/>
            <a:ext cx="3857625" cy="742950"/>
          </a:xfrm>
          <a:prstGeom prst="roundRect">
            <a:avLst>
              <a:gd name="adj" fmla="val 15385"/>
            </a:avLst>
          </a:prstGeom>
          <a:solidFill>
            <a:srgbClr val="0C0C0C"/>
          </a:solidFill>
          <a:ln w="9525">
            <a:solidFill>
              <a:srgbClr val="1F1F1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67350" y="6359575"/>
            <a:ext cx="133350" cy="133350"/>
          </a:xfrm>
          <a:prstGeom prst="ellipse">
            <a:avLst/>
          </a:prstGeom>
          <a:solidFill>
            <a:srgbClr val="E38829"/>
          </a:solidFill>
          <a:ln/>
        </p:spPr>
      </p:sp>
      <p:sp>
        <p:nvSpPr>
          <p:cNvPr id="43" name="Text 41"/>
          <p:cNvSpPr/>
          <p:nvPr/>
        </p:nvSpPr>
        <p:spPr>
          <a:xfrm>
            <a:off x="5753100" y="6273850"/>
            <a:ext cx="6706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9E9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EVPN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7675215" y="6283375"/>
            <a:ext cx="11735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RFC 7432</a:t>
            </a:r>
            <a:endParaRPr lang="en-US" sz="1800" dirty="0"/>
          </a:p>
        </p:txBody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9553575"/>
            <a:ext cx="266700" cy="266700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990600" y="9544050"/>
            <a:ext cx="11735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zebra-rs</a:t>
            </a:r>
            <a:endParaRPr lang="en-US" sz="1800" dirty="0"/>
          </a:p>
        </p:txBody>
      </p:sp>
      <p:sp>
        <p:nvSpPr>
          <p:cNvPr id="47" name="Text 44"/>
          <p:cNvSpPr/>
          <p:nvPr/>
        </p:nvSpPr>
        <p:spPr>
          <a:xfrm>
            <a:off x="17373600" y="9544050"/>
            <a:ext cx="4191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6482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468" kern="0" dirty="0">
                <a:solidFill>
                  <a:srgbClr val="E388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GET STARTED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485900"/>
            <a:ext cx="16482060" cy="989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200" spc="-135" kern="0" dirty="0">
                <a:solidFill>
                  <a:srgbClr val="E9E9E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One command. </a:t>
            </a:r>
            <a:pPr algn="l" indent="0" marL="0">
              <a:lnSpc>
                <a:spcPct val="104000"/>
              </a:lnSpc>
              <a:buNone/>
            </a:pPr>
            <a:r>
              <a:rPr lang="en-US" sz="7200" spc="-135" kern="0" dirty="0">
                <a:solidFill>
                  <a:srgbClr val="E3882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 agent fleet.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43000" y="2951187"/>
            <a:ext cx="1079182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A0A0A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Memory-safe. Single binary. Runs on bare metal, VMs, containers — anywhere your Rust toolchain runs.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143000" y="4576093"/>
            <a:ext cx="16002000" cy="1081088"/>
          </a:xfrm>
          <a:prstGeom prst="roundRect">
            <a:avLst>
              <a:gd name="adj" fmla="val 14097"/>
            </a:avLst>
          </a:prstGeom>
          <a:solidFill>
            <a:srgbClr val="0C0C0C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33525" y="4890418"/>
            <a:ext cx="293415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E388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979340" y="4890418"/>
            <a:ext cx="6486899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E9E9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cargo install zebra-rs@latest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6077754" y="4973762"/>
            <a:ext cx="75292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5923880"/>
            <a:ext cx="16002000" cy="981075"/>
          </a:xfrm>
          <a:prstGeom prst="roundRect">
            <a:avLst>
              <a:gd name="adj" fmla="val 15534"/>
            </a:avLst>
          </a:prstGeom>
          <a:solidFill>
            <a:srgbClr val="0C0C0C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33525" y="6238205"/>
            <a:ext cx="2476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388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933575" y="6238205"/>
            <a:ext cx="58275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9E9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zebra-rs --config /etc/zebra.toml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143000" y="9067800"/>
            <a:ext cx="459150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388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</a:t>
            </a:r>
            <a:pPr algn="l" indent="0" marL="0">
              <a:buNone/>
            </a:pPr>
            <a:r>
              <a:rPr lang="en-US" sz="195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github.com/zebra-rs/zebra-rs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134174" y="9067800"/>
            <a:ext cx="29079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388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</a:t>
            </a:r>
            <a:pPr algn="l" indent="0" marL="0">
              <a:buNone/>
            </a:pPr>
            <a:r>
              <a:rPr lang="en-US" sz="195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zebra-rs.com/docs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490844" y="9067800"/>
            <a:ext cx="156217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3882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</a:t>
            </a:r>
            <a:pPr algn="l" indent="0" marL="0">
              <a:buNone/>
            </a:pPr>
            <a:r>
              <a:rPr lang="en-US" sz="195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AGPL-3.0</a:t>
            </a:r>
            <a:endParaRPr lang="en-US" sz="1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9553575"/>
            <a:ext cx="266700" cy="2667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90600" y="9544050"/>
            <a:ext cx="11735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zebra-rs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7373600" y="9544050"/>
            <a:ext cx="4191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250" y="2070795"/>
            <a:ext cx="2095500" cy="2095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95315" y="4623495"/>
            <a:ext cx="6697370" cy="1683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3500" spc="-225" kern="0" dirty="0">
                <a:solidFill>
                  <a:srgbClr val="E9E9E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Thanks.</a:t>
            </a:r>
            <a:endParaRPr lang="en-US" sz="13500" dirty="0"/>
          </a:p>
        </p:txBody>
      </p:sp>
      <p:sp>
        <p:nvSpPr>
          <p:cNvPr id="5" name="Text 2"/>
          <p:cNvSpPr/>
          <p:nvPr/>
        </p:nvSpPr>
        <p:spPr>
          <a:xfrm>
            <a:off x="5800527" y="6726585"/>
            <a:ext cx="6686946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A0A0A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Routing, rewritten in Rust — for the AI era.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541462" y="7930530"/>
            <a:ext cx="720507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github.com/zebra-rs/zebra-rs · v26.05.01 · AGPL-3.0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7373600" y="9544050"/>
            <a:ext cx="4191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6A6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2026-05-27T00:28:05Z</dcterms:created>
  <dcterms:modified xsi:type="dcterms:W3CDTF">2026-05-27T00:28:05Z</dcterms:modified>
</cp:coreProperties>
</file>